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  <p:defaultTextStyle>
    <a:defPPr>
      <a:defRPr lang="fr-F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16A34A"/>
          </a:solidFill>
          <a:ln w="14000">
            <a:solidFill>
              <a:srgbClr val="16A34A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GreenOps Platform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Projet Docker &amp; Kubernetes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Plateforme SaaS pedagogique de supervision energetique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Application microservices conteneurisee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Deploiement Docker Compose puis Kubernetes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Supervision avec Prometheus et Grafana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Presentation simple du projet GreenOps</a:t>
            </a:r>
            <a:endParaRPr lang="fr-FR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Objectif du projet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Repondre au cahier des charges Docker et Kubernetes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Construire une application complete et demonstrable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Montrer la conteneurisation des services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Prouver la communication entre conteneurs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Migrer vers une orchestration Kubernetes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Documenter et versionner le projet sur GitHub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GreenOps Platform</a:t>
            </a:r>
            <a:endParaRPr lang="fr-FR"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16A34A"/>
          </a:solidFill>
          <a:ln w="14000">
            <a:solidFill>
              <a:srgbClr val="16A34A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Architecture generale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Une application organisee en microservices</a:t>
            </a:r>
            <a:endParaRPr lang="fr-FR" sz="1700"/>
          </a:p>
        </p:txBody>
      </p:sp>
      <p:sp>
        <p:nvSpPr>
          <p:cNvPr id="101" name="User"/>
          <p:cNvSpPr/>
          <p:nvPr/>
        </p:nvSpPr>
        <p:spPr>
          <a:xfrm>
            <a:off x="670000" y="2000000"/>
            <a:ext cx="1500000" cy="62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800" b="1">
                <a:solidFill>
                  <a:srgbClr val="1E3A8A"/>
                </a:solidFill>
              </a:rPr>
              <a:t>Utilisateur</a:t>
            </a:r>
            <a:endParaRPr lang="fr-FR" sz="1800"/>
          </a:p>
        </p:txBody>
      </p:sp>
      <p:cxnSp>
        <p:nvCxnSpPr>
          <p:cNvPr id="102" name="A1"/>
          <p:cNvCxnSpPr/>
          <p:nvPr/>
        </p:nvCxnSpPr>
        <p:spPr>
          <a:xfrm>
            <a:off x="2200000" y="2300000"/>
            <a:ext cx="700000" cy="0"/>
          </a:xfrm>
          <a:prstGeom prst="straightConnector1">
            <a:avLst/>
          </a:prstGeom>
          <a:ln w="260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03" name="Caddy"/>
          <p:cNvSpPr/>
          <p:nvPr/>
        </p:nvSpPr>
        <p:spPr>
          <a:xfrm>
            <a:off x="2950000" y="2000000"/>
            <a:ext cx="1600000" cy="62000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16A34A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650" b="1">
                <a:solidFill>
                  <a:srgbClr val="14532D"/>
                </a:solidFill>
              </a:rPr>
              <a:t>Caddy / Frontend</a:t>
            </a:r>
            <a:endParaRPr lang="fr-FR" sz="1650"/>
          </a:p>
        </p:txBody>
      </p:sp>
      <p:cxnSp>
        <p:nvCxnSpPr>
          <p:cNvPr id="104" name="A2"/>
          <p:cNvCxnSpPr/>
          <p:nvPr/>
        </p:nvCxnSpPr>
        <p:spPr>
          <a:xfrm>
            <a:off x="4600000" y="2300000"/>
            <a:ext cx="700000" cy="0"/>
          </a:xfrm>
          <a:prstGeom prst="straightConnector1">
            <a:avLst/>
          </a:prstGeom>
          <a:ln w="260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05" name="Gateway"/>
          <p:cNvSpPr/>
          <p:nvPr/>
        </p:nvSpPr>
        <p:spPr>
          <a:xfrm>
            <a:off x="5350000" y="2000000"/>
            <a:ext cx="1500000" cy="620000"/>
          </a:xfrm>
          <a:prstGeom prst="roundRect">
            <a:avLst/>
          </a:prstGeom>
          <a:solidFill>
            <a:srgbClr val="E0E7FF"/>
          </a:solidFill>
          <a:ln w="14000">
            <a:solidFill>
              <a:srgbClr val="4F46E5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750" b="1">
                <a:solidFill>
                  <a:srgbClr val="312E81"/>
                </a:solidFill>
              </a:rPr>
              <a:t>API Gateway</a:t>
            </a:r>
            <a:endParaRPr lang="fr-FR" sz="1750"/>
          </a:p>
        </p:txBody>
      </p:sp>
      <p:cxnSp>
        <p:nvCxnSpPr>
          <p:cNvPr id="106" name="A3"/>
          <p:cNvCxnSpPr/>
          <p:nvPr/>
        </p:nvCxnSpPr>
        <p:spPr>
          <a:xfrm>
            <a:off x="6900000" y="2300000"/>
            <a:ext cx="650000" cy="0"/>
          </a:xfrm>
          <a:prstGeom prst="straightConnector1">
            <a:avLst/>
          </a:prstGeom>
          <a:ln w="26000">
            <a:solidFill>
              <a:srgbClr val="2563EB"/>
            </a:solidFill>
            <a:tailEnd type="none"/>
            <a:headEnd type="triangle"/>
          </a:ln>
        </p:spPr>
      </p:cxnSp>
      <p:sp>
        <p:nvSpPr>
          <p:cNvPr id="107" name="Services"/>
          <p:cNvSpPr/>
          <p:nvPr/>
        </p:nvSpPr>
        <p:spPr>
          <a:xfrm>
            <a:off x="7600000" y="1800000"/>
            <a:ext cx="2400000" cy="980000"/>
          </a:xfrm>
          <a:prstGeom prst="roundRect">
            <a:avLst/>
          </a:prstGeom>
          <a:solidFill>
            <a:srgbClr val="FEF3C7"/>
          </a:solidFill>
          <a:ln w="14000">
            <a:solidFill>
              <a:srgbClr val="D97706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450" b="1">
                <a:solidFill>
                  <a:srgbClr val="78350F"/>
                </a:solidFill>
              </a:rPr>
              <a:t>Services Go: Auth / Energy / Alerts</a:t>
            </a:r>
            <a:endParaRPr lang="fr-FR" sz="1450"/>
          </a:p>
        </p:txBody>
      </p:sp>
      <p:cxnSp>
        <p:nvCxnSpPr>
          <p:cNvPr id="108" name="A4"/>
          <p:cNvCxnSpPr/>
          <p:nvPr/>
        </p:nvCxnSpPr>
        <p:spPr>
          <a:xfrm>
            <a:off x="8800000" y="2850000"/>
            <a:ext cx="0" cy="550000"/>
          </a:xfrm>
          <a:prstGeom prst="straightConnector1">
            <a:avLst/>
          </a:prstGeom>
          <a:ln w="26000">
            <a:solidFill>
              <a:srgbClr val="16A34A"/>
            </a:solidFill>
            <a:tailEnd type="none"/>
            <a:headEnd type="triangle"/>
          </a:ln>
        </p:spPr>
      </p:cxnSp>
      <p:sp>
        <p:nvSpPr>
          <p:cNvPr id="109" name="Data"/>
          <p:cNvSpPr/>
          <p:nvPr/>
        </p:nvSpPr>
        <p:spPr>
          <a:xfrm>
            <a:off x="7480000" y="3500000"/>
            <a:ext cx="2650000" cy="72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700" b="1">
                <a:solidFill>
                  <a:srgbClr val="7F1D1D"/>
                </a:solidFill>
              </a:rPr>
              <a:t>PostgreSQL + Redis</a:t>
            </a:r>
            <a:endParaRPr lang="fr-FR" sz="1700"/>
          </a:p>
        </p:txBody>
      </p:sp>
      <p:sp>
        <p:nvSpPr>
          <p:cNvPr id="110" name="Monitoring"/>
          <p:cNvSpPr/>
          <p:nvPr/>
        </p:nvSpPr>
        <p:spPr>
          <a:xfrm>
            <a:off x="2750000" y="3500000"/>
            <a:ext cx="4200000" cy="720000"/>
          </a:xfrm>
          <a:prstGeom prst="roundRect">
            <a:avLst/>
          </a:prstGeom>
          <a:solidFill>
            <a:srgbClr val="ECFDF5"/>
          </a:solidFill>
          <a:ln w="14000">
            <a:solidFill>
              <a:srgbClr val="059669"/>
            </a:solidFill>
          </a:ln>
        </p:spPr>
        <p:txBody>
          <a:bodyPr anchor="ctr" wrap="square" lIns="130000" rIns="130000" tIns="50000" bIns="50000"/>
          <a:lstStyle/>
          <a:p>
            <a:r>
              <a:rPr lang="fr-FR" sz="1450">
                <a:solidFill>
                  <a:srgbClr val="064E3B"/>
                </a:solidFill>
              </a:rPr>
              <a:t>Prometheus collecte les metriques / Grafana affiche le dashboard</a:t>
            </a:r>
            <a:endParaRPr lang="fr-FR" sz="1450"/>
          </a:p>
        </p:txBody>
      </p:sp>
      <p:sp>
        <p:nvSpPr>
          <p:cNvPr id="14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Flux utilisateur, services internes et monitoring</a:t>
            </a:r>
            <a:endParaRPr lang="fr-FR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0EA5E9"/>
          </a:solidFill>
          <a:ln w="14000">
            <a:solidFill>
              <a:srgbClr val="0EA5E9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Stack technique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Technologies utilisees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Frontend React statique servi par Caddy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Backend Go : gateway, auth, energy, alerts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PostgreSQL pour la persistance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Redis pour le cache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Prometheus pour les metriques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Grafana pour les tableaux de bord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Choix simples, robustes et faciles a expliquer</a:t>
            </a:r>
            <a:endParaRPr lang="fr-FR"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Phase Docker Compose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Premier deploiement de la plateforme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Un fichier compose.yaml lance toute la stack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Les services communiquent par nom DNS Docker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Les volumes conservent les donnees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Les ports 8080, 3001 et 9090 exposent les services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Les logs Docker permettent le diagnostic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Application accessible en local et sur le reseau</a:t>
            </a:r>
            <a:endParaRPr lang="fr-FR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Docker Compose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Services declares dans compose.yaml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de commande : docker compose config --services</a:t>
            </a:r>
            <a:endParaRPr lang="fr-FR"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16A34A"/>
          </a:solidFill>
          <a:ln w="14000">
            <a:solidFill>
              <a:srgbClr val="16A34A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Application en fonctionnement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Capture live de GreenOps sur la VM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URL testee : http://192.168.242.132:8080</a:t>
            </a:r>
            <a:endParaRPr lang="fr-FR" sz="12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7C3AED"/>
          </a:solidFill>
          <a:ln w="14000">
            <a:solidFill>
              <a:srgbClr val="7C3AED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Phase Kubernetes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Migration vers une orchestration locale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Namespace greenops dedie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Deployments et Services pour chaque composant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Secrets et ConfigMaps pour la configuration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PVC pour PostgreSQL, Prometheus et Grafana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Probes, HPA et NetworkPolicies pour une approche professionnelle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Kubernetes montre resilience, scaling et organisation</a:t>
            </a:r>
            <a:endParaRPr lang="fr-FR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7C3AED"/>
          </a:solidFill>
          <a:ln w="14000">
            <a:solidFill>
              <a:srgbClr val="7C3AED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Kubernetes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Pods et deploiements actifs dans le namespace greenops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de commande : kubectl get pods/deploy -n greenops</a:t>
            </a:r>
            <a:endParaRPr lang="fr-FR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F59E0B"/>
          </a:solidFill>
          <a:ln w="14000">
            <a:solidFill>
              <a:srgbClr val="F59E0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Observabilite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Prometheus + Grafana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Les services exposent des endpoints /metrics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Prometheus collecte les metriques techniques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Grafana affiche un dashboard provisionne automatiquement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La supervision montre l etat et l activite de la plateforme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Les logs completent le diagnostic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La plateforme est observable, pas seulement lancee</a:t>
            </a:r>
            <a:endParaRPr lang="fr-FR" sz="12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F59E0B"/>
          </a:solidFill>
          <a:ln w="14000">
            <a:solidFill>
              <a:srgbClr val="F59E0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Prometheus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Targets des services GreenOps en etat UP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web : Prometheus Target health</a:t>
            </a:r>
            <a:endParaRPr lang="fr-FR" sz="12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F59E0B"/>
          </a:solidFill>
          <a:ln w="14000">
            <a:solidFill>
              <a:srgbClr val="F59E0B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Grafana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Interface Grafana accessible sur le port 3001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web : page Grafana accessible</a:t>
            </a:r>
            <a:endParaRPr lang="fr-FR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0F766E"/>
          </a:solidFill>
          <a:ln w="14000">
            <a:solidFill>
              <a:srgbClr val="0F766E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API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Gateway, donnees energie et Grafana health OK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de commandes Invoke-RestMethod</a:t>
            </a:r>
            <a:endParaRPr lang="fr-FR" sz="12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0EA5E9"/>
          </a:solidFill>
          <a:ln w="14000">
            <a:solidFill>
              <a:srgbClr val="0EA5E9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Preuve CI/CD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GitHub Actions au vert</a:t>
            </a:r>
            <a:endParaRPr lang="fr-FR" sz="1700"/>
          </a:p>
        </p:txBody>
      </p:sp>
      <p:pic>
        <p:nvPicPr>
          <p:cNvPr id="13" name="Proof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650000" y="1400000"/>
            <a:ext cx="8890000" cy="5000000"/>
          </a:xfrm>
          <a:prstGeom prst="rect">
            <a:avLst/>
          </a:prstGeom>
          <a:ln w="18000">
            <a:solidFill>
              <a:srgbClr val="CBD5E1"/>
            </a:solidFill>
          </a:ln>
        </p:spPr>
      </p:pic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Capture de commande : gh run list</a:t>
            </a:r>
            <a:endParaRPr lang="fr-FR" sz="12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DC2626"/>
          </a:solidFill>
          <a:ln w="14000">
            <a:solidFill>
              <a:srgbClr val="DC2626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Tests de demonstration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Commandes simples a montrer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docker compose ps pour voir les conteneurs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kubectl get pods -n greenops pour voir les pods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/api/health pour verifier le gateway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/api/energy/summary pour verifier le service metier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Suppression d un pod pour montrer la resilience Kubernetes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Les tests prouvent que la plateforme fonctionne</a:t>
            </a:r>
            <a:endParaRPr lang="fr-FR" sz="1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ccent bar"/>
          <p:cNvSpPr/>
          <p:nvPr/>
        </p:nvSpPr>
        <p:spPr>
          <a:xfrm>
            <a:off x="0" y="0"/>
            <a:ext cx="12192000" cy="160000"/>
          </a:xfrm>
          <a:prstGeom prst="roundRect">
            <a:avLst/>
          </a:prstGeom>
          <a:solidFill>
            <a:srgbClr val="16A34A"/>
          </a:solidFill>
          <a:ln w="14000">
            <a:solidFill>
              <a:srgbClr val="16A34A"/>
            </a:solidFill>
          </a:ln>
        </p:spPr>
        <p:txBody>
          <a:bodyPr anchor="ctr" wrap="square" lIns="130000" rIns="130000" tIns="50000" bIns="50000"/>
          <a:lstStyle/>
        </p:txBody>
      </p:sp>
      <p:sp>
        <p:nvSpPr>
          <p:cNvPr id="11" name="Title"/>
          <p:cNvSpPr txBox="1"/>
          <p:nvPr/>
        </p:nvSpPr>
        <p:spPr>
          <a:xfrm>
            <a:off x="600000" y="320000"/>
            <a:ext cx="10800000" cy="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3600" b="1">
                <a:solidFill>
                  <a:srgbClr val="0F172A"/>
                </a:solidFill>
              </a:rPr>
              <a:t>Conclusion</a:t>
            </a:r>
            <a:endParaRPr lang="fr-FR" sz="3600"/>
          </a:p>
        </p:txBody>
      </p:sp>
      <p:sp>
        <p:nvSpPr>
          <p:cNvPr id="12" name="Subtitle"/>
          <p:cNvSpPr txBox="1"/>
          <p:nvPr/>
        </p:nvSpPr>
        <p:spPr>
          <a:xfrm>
            <a:off x="620000" y="930000"/>
            <a:ext cx="10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700">
                <a:solidFill>
                  <a:srgbClr val="475569"/>
                </a:solidFill>
              </a:rPr>
              <a:t>Resultat obtenu</a:t>
            </a:r>
            <a:endParaRPr lang="fr-FR" sz="1700"/>
          </a:p>
        </p:txBody>
      </p:sp>
      <p:sp>
        <p:nvSpPr>
          <p:cNvPr id="13" name="Bullets"/>
          <p:cNvSpPr txBox="1"/>
          <p:nvPr/>
        </p:nvSpPr>
        <p:spPr>
          <a:xfrm>
            <a:off x="780000" y="1580000"/>
            <a:ext cx="1035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2250">
                <a:solidFill>
                  <a:srgbClr val="1F2937"/>
                </a:solidFill>
              </a:rPr>
              <a:t>- Projet Docker et Kubernetes complet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Architecture microservices claire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Application accessible et supervisable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Documentation detaillee et depot GitHub</a:t>
            </a:r>
            <a:endParaRPr lang="fr-FR" sz="2250"/>
          </a:p>
          <a:p>
            <a:r>
              <a:rPr lang="fr-FR" sz="2250">
                <a:solidFill>
                  <a:srgbClr val="1F2937"/>
                </a:solidFill>
              </a:rPr>
              <a:t>- Base solide pour une demonstration ou une soutenance</a:t>
            </a:r>
            <a:endParaRPr lang="fr-FR" sz="2250"/>
          </a:p>
        </p:txBody>
      </p:sp>
      <p:sp>
        <p:nvSpPr>
          <p:cNvPr id="15" name="Footer"/>
          <p:cNvSpPr txBox="1"/>
          <p:nvPr/>
        </p:nvSpPr>
        <p:spPr>
          <a:xfrm>
            <a:off x="780000" y="6500000"/>
            <a:ext cx="88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fr-FR" sz="1250">
                <a:solidFill>
                  <a:srgbClr val="64748B"/>
                </a:solidFill>
              </a:rPr>
              <a:t>MERCI POUR VOTRE ATTENTION</a:t>
            </a:r>
            <a:endParaRPr lang="fr-FR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Ops">
  <a:themeElements>
    <a:clrScheme name="GreenOps">
      <a:dk1>
        <a:srgbClr val="111827"/>
      </a:dk1>
      <a:lt1>
        <a:srgbClr val="F8FAFC"/>
      </a:lt1>
      <a:dk2>
        <a:srgbClr val="334155"/>
      </a:dk2>
      <a:lt2>
        <a:srgbClr val="E2E8F0"/>
      </a:lt2>
      <a:accent1>
        <a:srgbClr val="16A34A"/>
      </a:accent1>
      <a:accent2>
        <a:srgbClr val="2563EB"/>
      </a:accent2>
      <a:accent3>
        <a:srgbClr val="F59E0B"/>
      </a:accent3>
      <a:accent4>
        <a:srgbClr val="DC2626"/>
      </a:accent4>
      <a:accent5>
        <a:srgbClr val="7C3AED"/>
      </a:accent5>
      <a:accent6>
        <a:srgbClr val="0F766E"/>
      </a:accent6>
      <a:hlink>
        <a:srgbClr val="2563EB"/>
      </a:hlink>
      <a:folHlink>
        <a:srgbClr val="7C3AED"/>
      </a:folHlink>
    </a:clrScheme>
    <a:fontScheme name="GreenOps">
      <a:majorFont>
        <a:latin typeface="Aptos Display"/>
      </a:majorFont>
      <a:minorFont>
        <a:latin typeface="Aptos"/>
      </a:minorFont>
    </a:fontScheme>
    <a:fmtScheme name="GreenOps">
      <a:fillStyleLst>
        <a:solidFill>
          <a:schemeClr val="accen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GreenOps Platform - Presentation avec preuves</dc:title>
  <dc:creator>Codex</dc:creator>
  <cp:lastModifiedBy>Codex</cp:lastModifiedBy>
  <dcterms:created xsi:type="dcterms:W3CDTF">2026-06-05T00:00:00Z</dcterms:created>
  <dcterms:modified xsi:type="dcterms:W3CDTF">2026-06-05T00:00:00Z</dcterms:modified>
</cp:coreProperties>
</file>