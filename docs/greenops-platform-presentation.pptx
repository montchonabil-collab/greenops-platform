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 type="wide"/>
  <p:notesSz cx="6858000" cy="9144000"/>
  <p:defaultTextStyle>
    <a:defPPr>
      <a:defRPr lang="fr-FR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/>
  <p:slideViewPr/>
  <p:notesTextViewPr/>
  <p:gridSpacing cx="72008" cy="72008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20" Type="http://schemas.openxmlformats.org/officeDocument/2006/relationships/presProps" Target="presProps.xml"/>
  <Relationship Id="rId21" Type="http://schemas.openxmlformats.org/officeDocument/2006/relationships/viewProps" Target="viewProps.xml"/>
  <Relationship Id="rId22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ccent bar"/>
          <p:cNvSpPr/>
          <p:nvPr/>
        </p:nvSpPr>
        <p:spPr>
          <a:xfrm>
            <a:off x="0" y="0"/>
            <a:ext cx="12192000" cy="160000"/>
          </a:xfrm>
          <a:prstGeom prst="roundRect">
            <a:avLst/>
          </a:prstGeom>
          <a:solidFill>
            <a:srgbClr val="16A34A"/>
          </a:solidFill>
          <a:ln w="14000">
            <a:solidFill>
              <a:srgbClr val="16A34A"/>
            </a:solidFill>
          </a:ln>
        </p:spPr>
        <p:txBody>
          <a:bodyPr anchor="ctr" wrap="square" lIns="130000" rIns="130000" tIns="50000" bIns="50000"/>
          <a:lstStyle/>
        </p:txBody>
      </p:sp>
      <p:sp>
        <p:nvSpPr>
          <p:cNvPr id="11" name="Title"/>
          <p:cNvSpPr txBox="1"/>
          <p:nvPr/>
        </p:nvSpPr>
        <p:spPr>
          <a:xfrm>
            <a:off x="600000" y="380000"/>
            <a:ext cx="108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3800" b="1">
                <a:solidFill>
                  <a:srgbClr val="0F172A"/>
                </a:solidFill>
              </a:rPr>
              <a:t>GreenOps Platform</a:t>
            </a:r>
            <a:endParaRPr lang="fr-FR" sz="3800"/>
          </a:p>
        </p:txBody>
      </p:sp>
      <p:sp>
        <p:nvSpPr>
          <p:cNvPr id="12" name="Subtitle"/>
          <p:cNvSpPr txBox="1"/>
          <p:nvPr/>
        </p:nvSpPr>
        <p:spPr>
          <a:xfrm>
            <a:off x="620000" y="1010000"/>
            <a:ext cx="103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900">
                <a:solidFill>
                  <a:srgbClr val="475569"/>
                </a:solidFill>
              </a:rPr>
              <a:t>Projet Docker &amp; Kubernetes</a:t>
            </a:r>
            <a:endParaRPr lang="fr-FR" sz="1900"/>
          </a:p>
        </p:txBody>
      </p:sp>
      <p:sp>
        <p:nvSpPr>
          <p:cNvPr id="13" name="Bullets"/>
          <p:cNvSpPr txBox="1"/>
          <p:nvPr/>
        </p:nvSpPr>
        <p:spPr>
          <a:xfrm>
            <a:off x="780000" y="1720000"/>
            <a:ext cx="1035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2300">
                <a:solidFill>
                  <a:srgbClr val="1F2937"/>
                </a:solidFill>
              </a:rPr>
              <a:t>- Plateforme SaaS pedagogique de supervision energetique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Application microservices conteneurisee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Deploiement Docker Compose puis Kubernetes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Supervision avec Prometheus et Grafana</a:t>
            </a:r>
            <a:endParaRPr lang="fr-FR" sz="2300"/>
          </a:p>
        </p:txBody>
      </p:sp>
      <p:sp>
        <p:nvSpPr>
          <p:cNvPr id="15" name="Footer"/>
          <p:cNvSpPr txBox="1"/>
          <p:nvPr/>
        </p:nvSpPr>
        <p:spPr>
          <a:xfrm>
            <a:off x="780000" y="6500000"/>
            <a:ext cx="82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250">
                <a:solidFill>
                  <a:srgbClr val="64748B"/>
                </a:solidFill>
              </a:rPr>
              <a:t>Presentation simple du projet GreenOps</a:t>
            </a:r>
            <a:endParaRPr lang="fr-FR" sz="12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ccent bar"/>
          <p:cNvSpPr/>
          <p:nvPr/>
        </p:nvSpPr>
        <p:spPr>
          <a:xfrm>
            <a:off x="0" y="0"/>
            <a:ext cx="12192000" cy="160000"/>
          </a:xfrm>
          <a:prstGeom prst="roundRect">
            <a:avLst/>
          </a:prstGeom>
          <a:solidFill>
            <a:srgbClr val="2563EB"/>
          </a:solidFill>
          <a:ln w="14000">
            <a:solidFill>
              <a:srgbClr val="2563EB"/>
            </a:solidFill>
          </a:ln>
        </p:spPr>
        <p:txBody>
          <a:bodyPr anchor="ctr" wrap="square" lIns="130000" rIns="130000" tIns="50000" bIns="50000"/>
          <a:lstStyle/>
        </p:txBody>
      </p:sp>
      <p:sp>
        <p:nvSpPr>
          <p:cNvPr id="11" name="Title"/>
          <p:cNvSpPr txBox="1"/>
          <p:nvPr/>
        </p:nvSpPr>
        <p:spPr>
          <a:xfrm>
            <a:off x="600000" y="380000"/>
            <a:ext cx="108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3800" b="1">
                <a:solidFill>
                  <a:srgbClr val="0F172A"/>
                </a:solidFill>
              </a:rPr>
              <a:t>Objectif du projet</a:t>
            </a:r>
            <a:endParaRPr lang="fr-FR" sz="3800"/>
          </a:p>
        </p:txBody>
      </p:sp>
      <p:sp>
        <p:nvSpPr>
          <p:cNvPr id="12" name="Subtitle"/>
          <p:cNvSpPr txBox="1"/>
          <p:nvPr/>
        </p:nvSpPr>
        <p:spPr>
          <a:xfrm>
            <a:off x="620000" y="1010000"/>
            <a:ext cx="103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900">
                <a:solidFill>
                  <a:srgbClr val="475569"/>
                </a:solidFill>
              </a:rPr>
              <a:t>Repondre au cahier des charges Docker et Kubernetes</a:t>
            </a:r>
            <a:endParaRPr lang="fr-FR" sz="1900"/>
          </a:p>
        </p:txBody>
      </p:sp>
      <p:sp>
        <p:nvSpPr>
          <p:cNvPr id="13" name="Bullets"/>
          <p:cNvSpPr txBox="1"/>
          <p:nvPr/>
        </p:nvSpPr>
        <p:spPr>
          <a:xfrm>
            <a:off x="780000" y="1720000"/>
            <a:ext cx="1035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2300">
                <a:solidFill>
                  <a:srgbClr val="1F2937"/>
                </a:solidFill>
              </a:rPr>
              <a:t>- Construire une application complete et demonstrable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Montrer la conteneurisation des services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Prouver la communication entre conteneurs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Migrer vers une orchestration Kubernetes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Documenter et versionner le projet sur GitHub</a:t>
            </a:r>
            <a:endParaRPr lang="fr-FR" sz="2300"/>
          </a:p>
        </p:txBody>
      </p:sp>
      <p:sp>
        <p:nvSpPr>
          <p:cNvPr id="15" name="Footer"/>
          <p:cNvSpPr txBox="1"/>
          <p:nvPr/>
        </p:nvSpPr>
        <p:spPr>
          <a:xfrm>
            <a:off x="780000" y="6500000"/>
            <a:ext cx="82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250">
                <a:solidFill>
                  <a:srgbClr val="64748B"/>
                </a:solidFill>
              </a:rPr>
              <a:t>GreenOps Platform</a:t>
            </a:r>
            <a:endParaRPr lang="fr-FR" sz="12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Accent bar"/>
          <p:cNvSpPr/>
          <p:nvPr/>
        </p:nvSpPr>
        <p:spPr>
          <a:xfrm>
            <a:off x="0" y="0"/>
            <a:ext cx="12192000" cy="160000"/>
          </a:xfrm>
          <a:prstGeom prst="roundRect">
            <a:avLst/>
          </a:prstGeom>
          <a:solidFill>
            <a:srgbClr val="16A34A"/>
          </a:solidFill>
          <a:ln w="14000">
            <a:solidFill>
              <a:srgbClr val="16A34A"/>
            </a:solidFill>
          </a:ln>
        </p:spPr>
        <p:txBody>
          <a:bodyPr anchor="ctr" wrap="square" lIns="130000" rIns="130000" tIns="50000" bIns="50000"/>
          <a:lstStyle/>
        </p:txBody>
      </p:sp>
      <p:sp>
        <p:nvSpPr>
          <p:cNvPr id="11" name="Title"/>
          <p:cNvSpPr txBox="1"/>
          <p:nvPr/>
        </p:nvSpPr>
        <p:spPr>
          <a:xfrm>
            <a:off x="600000" y="380000"/>
            <a:ext cx="108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3800" b="1">
                <a:solidFill>
                  <a:srgbClr val="0F172A"/>
                </a:solidFill>
              </a:rPr>
              <a:t>Architecture generale</a:t>
            </a:r>
            <a:endParaRPr lang="fr-FR" sz="3800"/>
          </a:p>
        </p:txBody>
      </p:sp>
      <p:sp>
        <p:nvSpPr>
          <p:cNvPr id="12" name="Subtitle"/>
          <p:cNvSpPr txBox="1"/>
          <p:nvPr/>
        </p:nvSpPr>
        <p:spPr>
          <a:xfrm>
            <a:off x="620000" y="1010000"/>
            <a:ext cx="103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900">
                <a:solidFill>
                  <a:srgbClr val="475569"/>
                </a:solidFill>
              </a:rPr>
              <a:t>Une application organisee en microservices</a:t>
            </a:r>
            <a:endParaRPr lang="fr-FR" sz="1900"/>
          </a:p>
        </p:txBody>
      </p:sp>
      <p:sp>
        <p:nvSpPr>
          <p:cNvPr id="101" name="User"/>
          <p:cNvSpPr/>
          <p:nvPr/>
        </p:nvSpPr>
        <p:spPr>
          <a:xfrm>
            <a:off x="670000" y="2000000"/>
            <a:ext cx="1500000" cy="620000"/>
          </a:xfrm>
          <a:prstGeom prst="roundRect">
            <a:avLst/>
          </a:prstGeom>
          <a:solidFill>
            <a:srgbClr val="DBEAFE"/>
          </a:solidFill>
          <a:ln w="14000">
            <a:solidFill>
              <a:srgbClr val="2563EB"/>
            </a:solidFill>
          </a:ln>
        </p:spPr>
        <p:txBody>
          <a:bodyPr anchor="ctr" wrap="square" lIns="130000" rIns="130000" tIns="50000" bIns="50000"/>
          <a:lstStyle/>
          <a:p>
            <a:r>
              <a:rPr lang="fr-FR" sz="1800" b="1">
                <a:solidFill>
                  <a:srgbClr val="1E3A8A"/>
                </a:solidFill>
              </a:rPr>
              <a:t>Utilisateur</a:t>
            </a:r>
            <a:endParaRPr lang="fr-FR" sz="1800"/>
          </a:p>
        </p:txBody>
      </p:sp>
      <p:cxnSp>
        <p:nvCxnSpPr>
          <p:cNvPr id="102" name="A1"/>
          <p:cNvCxnSpPr/>
          <p:nvPr/>
        </p:nvCxnSpPr>
        <p:spPr>
          <a:xfrm>
            <a:off x="2200000" y="2300000"/>
            <a:ext cx="700000" cy="0"/>
          </a:xfrm>
          <a:prstGeom prst="straightConnector1">
            <a:avLst/>
          </a:prstGeom>
          <a:ln w="26000">
            <a:solidFill>
              <a:srgbClr val="2563EB"/>
            </a:solidFill>
            <a:tailEnd type="none"/>
            <a:headEnd type="triangle"/>
          </a:ln>
        </p:spPr>
      </p:cxnSp>
      <p:sp>
        <p:nvSpPr>
          <p:cNvPr id="103" name="Caddy"/>
          <p:cNvSpPr/>
          <p:nvPr/>
        </p:nvSpPr>
        <p:spPr>
          <a:xfrm>
            <a:off x="2950000" y="2000000"/>
            <a:ext cx="1600000" cy="620000"/>
          </a:xfrm>
          <a:prstGeom prst="roundRect">
            <a:avLst/>
          </a:prstGeom>
          <a:solidFill>
            <a:srgbClr val="DCFCE7"/>
          </a:solidFill>
          <a:ln w="14000">
            <a:solidFill>
              <a:srgbClr val="16A34A"/>
            </a:solidFill>
          </a:ln>
        </p:spPr>
        <p:txBody>
          <a:bodyPr anchor="ctr" wrap="square" lIns="130000" rIns="130000" tIns="50000" bIns="50000"/>
          <a:lstStyle/>
          <a:p>
            <a:r>
              <a:rPr lang="fr-FR" sz="1650" b="1">
                <a:solidFill>
                  <a:srgbClr val="14532D"/>
                </a:solidFill>
              </a:rPr>
              <a:t>Caddy / Frontend</a:t>
            </a:r>
            <a:endParaRPr lang="fr-FR" sz="1650"/>
          </a:p>
        </p:txBody>
      </p:sp>
      <p:cxnSp>
        <p:nvCxnSpPr>
          <p:cNvPr id="104" name="A2"/>
          <p:cNvCxnSpPr/>
          <p:nvPr/>
        </p:nvCxnSpPr>
        <p:spPr>
          <a:xfrm>
            <a:off x="4600000" y="2300000"/>
            <a:ext cx="700000" cy="0"/>
          </a:xfrm>
          <a:prstGeom prst="straightConnector1">
            <a:avLst/>
          </a:prstGeom>
          <a:ln w="26000">
            <a:solidFill>
              <a:srgbClr val="2563EB"/>
            </a:solidFill>
            <a:tailEnd type="none"/>
            <a:headEnd type="triangle"/>
          </a:ln>
        </p:spPr>
      </p:cxnSp>
      <p:sp>
        <p:nvSpPr>
          <p:cNvPr id="105" name="Gateway"/>
          <p:cNvSpPr/>
          <p:nvPr/>
        </p:nvSpPr>
        <p:spPr>
          <a:xfrm>
            <a:off x="5350000" y="2000000"/>
            <a:ext cx="1500000" cy="620000"/>
          </a:xfrm>
          <a:prstGeom prst="roundRect">
            <a:avLst/>
          </a:prstGeom>
          <a:solidFill>
            <a:srgbClr val="E0E7FF"/>
          </a:solidFill>
          <a:ln w="14000">
            <a:solidFill>
              <a:srgbClr val="4F46E5"/>
            </a:solidFill>
          </a:ln>
        </p:spPr>
        <p:txBody>
          <a:bodyPr anchor="ctr" wrap="square" lIns="130000" rIns="130000" tIns="50000" bIns="50000"/>
          <a:lstStyle/>
          <a:p>
            <a:r>
              <a:rPr lang="fr-FR" sz="1750" b="1">
                <a:solidFill>
                  <a:srgbClr val="312E81"/>
                </a:solidFill>
              </a:rPr>
              <a:t>API Gateway</a:t>
            </a:r>
            <a:endParaRPr lang="fr-FR" sz="1750"/>
          </a:p>
        </p:txBody>
      </p:sp>
      <p:cxnSp>
        <p:nvCxnSpPr>
          <p:cNvPr id="106" name="A3"/>
          <p:cNvCxnSpPr/>
          <p:nvPr/>
        </p:nvCxnSpPr>
        <p:spPr>
          <a:xfrm>
            <a:off x="6900000" y="2300000"/>
            <a:ext cx="650000" cy="0"/>
          </a:xfrm>
          <a:prstGeom prst="straightConnector1">
            <a:avLst/>
          </a:prstGeom>
          <a:ln w="26000">
            <a:solidFill>
              <a:srgbClr val="2563EB"/>
            </a:solidFill>
            <a:tailEnd type="none"/>
            <a:headEnd type="triangle"/>
          </a:ln>
        </p:spPr>
      </p:cxnSp>
      <p:sp>
        <p:nvSpPr>
          <p:cNvPr id="107" name="Services"/>
          <p:cNvSpPr/>
          <p:nvPr/>
        </p:nvSpPr>
        <p:spPr>
          <a:xfrm>
            <a:off x="7600000" y="1800000"/>
            <a:ext cx="2400000" cy="980000"/>
          </a:xfrm>
          <a:prstGeom prst="roundRect">
            <a:avLst/>
          </a:prstGeom>
          <a:solidFill>
            <a:srgbClr val="FEF3C7"/>
          </a:solidFill>
          <a:ln w="14000">
            <a:solidFill>
              <a:srgbClr val="D97706"/>
            </a:solidFill>
          </a:ln>
        </p:spPr>
        <p:txBody>
          <a:bodyPr anchor="ctr" wrap="square" lIns="130000" rIns="130000" tIns="50000" bIns="50000"/>
          <a:lstStyle/>
          <a:p>
            <a:r>
              <a:rPr lang="fr-FR" sz="1550" b="1">
                <a:solidFill>
                  <a:srgbClr val="78350F"/>
                </a:solidFill>
              </a:rPr>
              <a:t>Services Go
Auth / Energy / Alerts</a:t>
            </a:r>
            <a:endParaRPr lang="fr-FR" sz="1550"/>
          </a:p>
        </p:txBody>
      </p:sp>
      <p:cxnSp>
        <p:nvCxnSpPr>
          <p:cNvPr id="108" name="A4"/>
          <p:cNvCxnSpPr/>
          <p:nvPr/>
        </p:nvCxnSpPr>
        <p:spPr>
          <a:xfrm>
            <a:off x="8800000" y="2850000"/>
            <a:ext cx="0" cy="550000"/>
          </a:xfrm>
          <a:prstGeom prst="straightConnector1">
            <a:avLst/>
          </a:prstGeom>
          <a:ln w="26000">
            <a:solidFill>
              <a:srgbClr val="16A34A"/>
            </a:solidFill>
            <a:tailEnd type="none"/>
            <a:headEnd type="triangle"/>
          </a:ln>
        </p:spPr>
      </p:cxnSp>
      <p:sp>
        <p:nvSpPr>
          <p:cNvPr id="109" name="Data"/>
          <p:cNvSpPr/>
          <p:nvPr/>
        </p:nvSpPr>
        <p:spPr>
          <a:xfrm>
            <a:off x="7480000" y="3500000"/>
            <a:ext cx="2650000" cy="720000"/>
          </a:xfrm>
          <a:prstGeom prst="roundRect">
            <a:avLst/>
          </a:prstGeom>
          <a:solidFill>
            <a:srgbClr val="FEE2E2"/>
          </a:solidFill>
          <a:ln w="14000">
            <a:solidFill>
              <a:srgbClr val="DC2626"/>
            </a:solidFill>
          </a:ln>
        </p:spPr>
        <p:txBody>
          <a:bodyPr anchor="ctr" wrap="square" lIns="130000" rIns="130000" tIns="50000" bIns="50000"/>
          <a:lstStyle/>
          <a:p>
            <a:r>
              <a:rPr lang="fr-FR" sz="1700" b="1">
                <a:solidFill>
                  <a:srgbClr val="7F1D1D"/>
                </a:solidFill>
              </a:rPr>
              <a:t>PostgreSQL + Redis</a:t>
            </a:r>
            <a:endParaRPr lang="fr-FR" sz="1700"/>
          </a:p>
        </p:txBody>
      </p:sp>
      <p:sp>
        <p:nvSpPr>
          <p:cNvPr id="110" name="Monitoring"/>
          <p:cNvSpPr/>
          <p:nvPr/>
        </p:nvSpPr>
        <p:spPr>
          <a:xfrm>
            <a:off x="2750000" y="3500000"/>
            <a:ext cx="4200000" cy="720000"/>
          </a:xfrm>
          <a:prstGeom prst="roundRect">
            <a:avLst/>
          </a:prstGeom>
          <a:solidFill>
            <a:srgbClr val="ECFDF5"/>
          </a:solidFill>
          <a:ln w="14000">
            <a:solidFill>
              <a:srgbClr val="059669"/>
            </a:solidFill>
          </a:ln>
        </p:spPr>
        <p:txBody>
          <a:bodyPr anchor="ctr" wrap="square" lIns="130000" rIns="130000" tIns="50000" bIns="50000"/>
          <a:lstStyle/>
          <a:p>
            <a:r>
              <a:rPr lang="fr-FR" sz="1450">
                <a:solidFill>
                  <a:srgbClr val="064E3B"/>
                </a:solidFill>
              </a:rPr>
              <a:t>Prometheus collecte les metriques / Grafana affiche le dashboard</a:t>
            </a:r>
            <a:endParaRPr lang="fr-FR" sz="1450"/>
          </a:p>
        </p:txBody>
      </p:sp>
      <p:sp>
        <p:nvSpPr>
          <p:cNvPr id="14" name="Footer"/>
          <p:cNvSpPr txBox="1"/>
          <p:nvPr/>
        </p:nvSpPr>
        <p:spPr>
          <a:xfrm>
            <a:off x="780000" y="6500000"/>
            <a:ext cx="82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250">
                <a:solidFill>
                  <a:srgbClr val="64748B"/>
                </a:solidFill>
              </a:rPr>
              <a:t>Flux utilisateur, services internes et monitoring</a:t>
            </a:r>
            <a:endParaRPr lang="fr-FR" sz="12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ccent bar"/>
          <p:cNvSpPr/>
          <p:nvPr/>
        </p:nvSpPr>
        <p:spPr>
          <a:xfrm>
            <a:off x="0" y="0"/>
            <a:ext cx="12192000" cy="160000"/>
          </a:xfrm>
          <a:prstGeom prst="roundRect">
            <a:avLst/>
          </a:prstGeom>
          <a:solidFill>
            <a:srgbClr val="0EA5E9"/>
          </a:solidFill>
          <a:ln w="14000">
            <a:solidFill>
              <a:srgbClr val="0EA5E9"/>
            </a:solidFill>
          </a:ln>
        </p:spPr>
        <p:txBody>
          <a:bodyPr anchor="ctr" wrap="square" lIns="130000" rIns="130000" tIns="50000" bIns="50000"/>
          <a:lstStyle/>
        </p:txBody>
      </p:sp>
      <p:sp>
        <p:nvSpPr>
          <p:cNvPr id="11" name="Title"/>
          <p:cNvSpPr txBox="1"/>
          <p:nvPr/>
        </p:nvSpPr>
        <p:spPr>
          <a:xfrm>
            <a:off x="600000" y="380000"/>
            <a:ext cx="108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3800" b="1">
                <a:solidFill>
                  <a:srgbClr val="0F172A"/>
                </a:solidFill>
              </a:rPr>
              <a:t>Stack technique</a:t>
            </a:r>
            <a:endParaRPr lang="fr-FR" sz="3800"/>
          </a:p>
        </p:txBody>
      </p:sp>
      <p:sp>
        <p:nvSpPr>
          <p:cNvPr id="12" name="Subtitle"/>
          <p:cNvSpPr txBox="1"/>
          <p:nvPr/>
        </p:nvSpPr>
        <p:spPr>
          <a:xfrm>
            <a:off x="620000" y="1010000"/>
            <a:ext cx="103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900">
                <a:solidFill>
                  <a:srgbClr val="475569"/>
                </a:solidFill>
              </a:rPr>
              <a:t>Technologies utilisees</a:t>
            </a:r>
            <a:endParaRPr lang="fr-FR" sz="1900"/>
          </a:p>
        </p:txBody>
      </p:sp>
      <p:sp>
        <p:nvSpPr>
          <p:cNvPr id="13" name="Bullets"/>
          <p:cNvSpPr txBox="1"/>
          <p:nvPr/>
        </p:nvSpPr>
        <p:spPr>
          <a:xfrm>
            <a:off x="780000" y="1720000"/>
            <a:ext cx="1035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2300">
                <a:solidFill>
                  <a:srgbClr val="1F2937"/>
                </a:solidFill>
              </a:rPr>
              <a:t>- Frontend React statique servi par Caddy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Backend Go : gateway, auth, energy, alerts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PostgreSQL pour la persistance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Redis pour le cache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Prometheus pour les metriques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Grafana pour les tableaux de bord</a:t>
            </a:r>
            <a:endParaRPr lang="fr-FR" sz="2300"/>
          </a:p>
        </p:txBody>
      </p:sp>
      <p:sp>
        <p:nvSpPr>
          <p:cNvPr id="15" name="Footer"/>
          <p:cNvSpPr txBox="1"/>
          <p:nvPr/>
        </p:nvSpPr>
        <p:spPr>
          <a:xfrm>
            <a:off x="780000" y="6500000"/>
            <a:ext cx="82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250">
                <a:solidFill>
                  <a:srgbClr val="64748B"/>
                </a:solidFill>
              </a:rPr>
              <a:t>Choix simples, robustes et faciles a expliquer</a:t>
            </a:r>
            <a:endParaRPr lang="fr-FR" sz="12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ccent bar"/>
          <p:cNvSpPr/>
          <p:nvPr/>
        </p:nvSpPr>
        <p:spPr>
          <a:xfrm>
            <a:off x="0" y="0"/>
            <a:ext cx="12192000" cy="160000"/>
          </a:xfrm>
          <a:prstGeom prst="roundRect">
            <a:avLst/>
          </a:prstGeom>
          <a:solidFill>
            <a:srgbClr val="2563EB"/>
          </a:solidFill>
          <a:ln w="14000">
            <a:solidFill>
              <a:srgbClr val="2563EB"/>
            </a:solidFill>
          </a:ln>
        </p:spPr>
        <p:txBody>
          <a:bodyPr anchor="ctr" wrap="square" lIns="130000" rIns="130000" tIns="50000" bIns="50000"/>
          <a:lstStyle/>
        </p:txBody>
      </p:sp>
      <p:sp>
        <p:nvSpPr>
          <p:cNvPr id="11" name="Title"/>
          <p:cNvSpPr txBox="1"/>
          <p:nvPr/>
        </p:nvSpPr>
        <p:spPr>
          <a:xfrm>
            <a:off x="600000" y="380000"/>
            <a:ext cx="108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3800" b="1">
                <a:solidFill>
                  <a:srgbClr val="0F172A"/>
                </a:solidFill>
              </a:rPr>
              <a:t>Phase Docker Compose</a:t>
            </a:r>
            <a:endParaRPr lang="fr-FR" sz="3800"/>
          </a:p>
        </p:txBody>
      </p:sp>
      <p:sp>
        <p:nvSpPr>
          <p:cNvPr id="12" name="Subtitle"/>
          <p:cNvSpPr txBox="1"/>
          <p:nvPr/>
        </p:nvSpPr>
        <p:spPr>
          <a:xfrm>
            <a:off x="620000" y="1010000"/>
            <a:ext cx="103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900">
                <a:solidFill>
                  <a:srgbClr val="475569"/>
                </a:solidFill>
              </a:rPr>
              <a:t>Premier deploiement de la plateforme</a:t>
            </a:r>
            <a:endParaRPr lang="fr-FR" sz="1900"/>
          </a:p>
        </p:txBody>
      </p:sp>
      <p:sp>
        <p:nvSpPr>
          <p:cNvPr id="13" name="Bullets"/>
          <p:cNvSpPr txBox="1"/>
          <p:nvPr/>
        </p:nvSpPr>
        <p:spPr>
          <a:xfrm>
            <a:off x="780000" y="1720000"/>
            <a:ext cx="1035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2300">
                <a:solidFill>
                  <a:srgbClr val="1F2937"/>
                </a:solidFill>
              </a:rPr>
              <a:t>- Un fichier compose.yaml lance toute la stack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Les services communiquent par nom DNS Docker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Les volumes conservent les donnees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Les ports 8080, 3001 et 9090 exposent les services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Les logs Docker permettent le diagnostic</a:t>
            </a:r>
            <a:endParaRPr lang="fr-FR" sz="2300"/>
          </a:p>
        </p:txBody>
      </p:sp>
      <p:sp>
        <p:nvSpPr>
          <p:cNvPr id="15" name="Footer"/>
          <p:cNvSpPr txBox="1"/>
          <p:nvPr/>
        </p:nvSpPr>
        <p:spPr>
          <a:xfrm>
            <a:off x="780000" y="6500000"/>
            <a:ext cx="82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250">
                <a:solidFill>
                  <a:srgbClr val="64748B"/>
                </a:solidFill>
              </a:rPr>
              <a:t>Application accessible en local et sur le reseau</a:t>
            </a:r>
            <a:endParaRPr lang="fr-FR" sz="12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ccent bar"/>
          <p:cNvSpPr/>
          <p:nvPr/>
        </p:nvSpPr>
        <p:spPr>
          <a:xfrm>
            <a:off x="0" y="0"/>
            <a:ext cx="12192000" cy="160000"/>
          </a:xfrm>
          <a:prstGeom prst="roundRect">
            <a:avLst/>
          </a:prstGeom>
          <a:solidFill>
            <a:srgbClr val="7C3AED"/>
          </a:solidFill>
          <a:ln w="14000">
            <a:solidFill>
              <a:srgbClr val="7C3AED"/>
            </a:solidFill>
          </a:ln>
        </p:spPr>
        <p:txBody>
          <a:bodyPr anchor="ctr" wrap="square" lIns="130000" rIns="130000" tIns="50000" bIns="50000"/>
          <a:lstStyle/>
        </p:txBody>
      </p:sp>
      <p:sp>
        <p:nvSpPr>
          <p:cNvPr id="11" name="Title"/>
          <p:cNvSpPr txBox="1"/>
          <p:nvPr/>
        </p:nvSpPr>
        <p:spPr>
          <a:xfrm>
            <a:off x="600000" y="380000"/>
            <a:ext cx="108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3800" b="1">
                <a:solidFill>
                  <a:srgbClr val="0F172A"/>
                </a:solidFill>
              </a:rPr>
              <a:t>Phase Kubernetes</a:t>
            </a:r>
            <a:endParaRPr lang="fr-FR" sz="3800"/>
          </a:p>
        </p:txBody>
      </p:sp>
      <p:sp>
        <p:nvSpPr>
          <p:cNvPr id="12" name="Subtitle"/>
          <p:cNvSpPr txBox="1"/>
          <p:nvPr/>
        </p:nvSpPr>
        <p:spPr>
          <a:xfrm>
            <a:off x="620000" y="1010000"/>
            <a:ext cx="103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900">
                <a:solidFill>
                  <a:srgbClr val="475569"/>
                </a:solidFill>
              </a:rPr>
              <a:t>Migration vers une orchestration locale</a:t>
            </a:r>
            <a:endParaRPr lang="fr-FR" sz="1900"/>
          </a:p>
        </p:txBody>
      </p:sp>
      <p:sp>
        <p:nvSpPr>
          <p:cNvPr id="13" name="Bullets"/>
          <p:cNvSpPr txBox="1"/>
          <p:nvPr/>
        </p:nvSpPr>
        <p:spPr>
          <a:xfrm>
            <a:off x="780000" y="1720000"/>
            <a:ext cx="1035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2300">
                <a:solidFill>
                  <a:srgbClr val="1F2937"/>
                </a:solidFill>
              </a:rPr>
              <a:t>- Namespace greenops dedie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Deployments et Services pour chaque composant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Secrets et ConfigMaps pour la configuration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PVC pour PostgreSQL, Prometheus et Grafana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Probes, HPA et NetworkPolicies pour une approche professionnelle</a:t>
            </a:r>
            <a:endParaRPr lang="fr-FR" sz="2300"/>
          </a:p>
        </p:txBody>
      </p:sp>
      <p:sp>
        <p:nvSpPr>
          <p:cNvPr id="15" name="Footer"/>
          <p:cNvSpPr txBox="1"/>
          <p:nvPr/>
        </p:nvSpPr>
        <p:spPr>
          <a:xfrm>
            <a:off x="780000" y="6500000"/>
            <a:ext cx="82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250">
                <a:solidFill>
                  <a:srgbClr val="64748B"/>
                </a:solidFill>
              </a:rPr>
              <a:t>Kubernetes montre resilience, scaling et organisation</a:t>
            </a:r>
            <a:endParaRPr lang="fr-FR" sz="12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ccent bar"/>
          <p:cNvSpPr/>
          <p:nvPr/>
        </p:nvSpPr>
        <p:spPr>
          <a:xfrm>
            <a:off x="0" y="0"/>
            <a:ext cx="12192000" cy="160000"/>
          </a:xfrm>
          <a:prstGeom prst="roundRect">
            <a:avLst/>
          </a:prstGeom>
          <a:solidFill>
            <a:srgbClr val="F59E0B"/>
          </a:solidFill>
          <a:ln w="14000">
            <a:solidFill>
              <a:srgbClr val="F59E0B"/>
            </a:solidFill>
          </a:ln>
        </p:spPr>
        <p:txBody>
          <a:bodyPr anchor="ctr" wrap="square" lIns="130000" rIns="130000" tIns="50000" bIns="50000"/>
          <a:lstStyle/>
        </p:txBody>
      </p:sp>
      <p:sp>
        <p:nvSpPr>
          <p:cNvPr id="11" name="Title"/>
          <p:cNvSpPr txBox="1"/>
          <p:nvPr/>
        </p:nvSpPr>
        <p:spPr>
          <a:xfrm>
            <a:off x="600000" y="380000"/>
            <a:ext cx="108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3800" b="1">
                <a:solidFill>
                  <a:srgbClr val="0F172A"/>
                </a:solidFill>
              </a:rPr>
              <a:t>Observabilite</a:t>
            </a:r>
            <a:endParaRPr lang="fr-FR" sz="3800"/>
          </a:p>
        </p:txBody>
      </p:sp>
      <p:sp>
        <p:nvSpPr>
          <p:cNvPr id="12" name="Subtitle"/>
          <p:cNvSpPr txBox="1"/>
          <p:nvPr/>
        </p:nvSpPr>
        <p:spPr>
          <a:xfrm>
            <a:off x="620000" y="1010000"/>
            <a:ext cx="103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900">
                <a:solidFill>
                  <a:srgbClr val="475569"/>
                </a:solidFill>
              </a:rPr>
              <a:t>Prometheus + Grafana</a:t>
            </a:r>
            <a:endParaRPr lang="fr-FR" sz="1900"/>
          </a:p>
        </p:txBody>
      </p:sp>
      <p:sp>
        <p:nvSpPr>
          <p:cNvPr id="13" name="Bullets"/>
          <p:cNvSpPr txBox="1"/>
          <p:nvPr/>
        </p:nvSpPr>
        <p:spPr>
          <a:xfrm>
            <a:off x="780000" y="1720000"/>
            <a:ext cx="1035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2300">
                <a:solidFill>
                  <a:srgbClr val="1F2937"/>
                </a:solidFill>
              </a:rPr>
              <a:t>- Les services exposent des endpoints /metrics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Prometheus collecte les metriques techniques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Grafana affiche un dashboard GreenOps Overview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La supervision montre l etat et l activite de la plateforme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Les logs completent le diagnostic</a:t>
            </a:r>
            <a:endParaRPr lang="fr-FR" sz="2300"/>
          </a:p>
        </p:txBody>
      </p:sp>
      <p:sp>
        <p:nvSpPr>
          <p:cNvPr id="15" name="Footer"/>
          <p:cNvSpPr txBox="1"/>
          <p:nvPr/>
        </p:nvSpPr>
        <p:spPr>
          <a:xfrm>
            <a:off x="780000" y="6500000"/>
            <a:ext cx="82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250">
                <a:solidFill>
                  <a:srgbClr val="64748B"/>
                </a:solidFill>
              </a:rPr>
              <a:t>La plateforme est observable, pas seulement lancee</a:t>
            </a:r>
            <a:endParaRPr lang="fr-FR" sz="12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ccent bar"/>
          <p:cNvSpPr/>
          <p:nvPr/>
        </p:nvSpPr>
        <p:spPr>
          <a:xfrm>
            <a:off x="0" y="0"/>
            <a:ext cx="12192000" cy="160000"/>
          </a:xfrm>
          <a:prstGeom prst="roundRect">
            <a:avLst/>
          </a:prstGeom>
          <a:solidFill>
            <a:srgbClr val="0F766E"/>
          </a:solidFill>
          <a:ln w="14000">
            <a:solidFill>
              <a:srgbClr val="0F766E"/>
            </a:solidFill>
          </a:ln>
        </p:spPr>
        <p:txBody>
          <a:bodyPr anchor="ctr" wrap="square" lIns="130000" rIns="130000" tIns="50000" bIns="50000"/>
          <a:lstStyle/>
        </p:txBody>
      </p:sp>
      <p:sp>
        <p:nvSpPr>
          <p:cNvPr id="11" name="Title"/>
          <p:cNvSpPr txBox="1"/>
          <p:nvPr/>
        </p:nvSpPr>
        <p:spPr>
          <a:xfrm>
            <a:off x="600000" y="380000"/>
            <a:ext cx="108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3800" b="1">
                <a:solidFill>
                  <a:srgbClr val="0F172A"/>
                </a:solidFill>
              </a:rPr>
              <a:t>Acces reseau</a:t>
            </a:r>
            <a:endParaRPr lang="fr-FR" sz="3800"/>
          </a:p>
        </p:txBody>
      </p:sp>
      <p:sp>
        <p:nvSpPr>
          <p:cNvPr id="12" name="Subtitle"/>
          <p:cNvSpPr txBox="1"/>
          <p:nvPr/>
        </p:nvSpPr>
        <p:spPr>
          <a:xfrm>
            <a:off x="620000" y="1010000"/>
            <a:ext cx="103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900">
                <a:solidFill>
                  <a:srgbClr val="475569"/>
                </a:solidFill>
              </a:rPr>
              <a:t>Rendre le projet consultable par les autres machines</a:t>
            </a:r>
            <a:endParaRPr lang="fr-FR" sz="1900"/>
          </a:p>
        </p:txBody>
      </p:sp>
      <p:sp>
        <p:nvSpPr>
          <p:cNvPr id="13" name="Bullets"/>
          <p:cNvSpPr txBox="1"/>
          <p:nvPr/>
        </p:nvSpPr>
        <p:spPr>
          <a:xfrm>
            <a:off x="780000" y="1720000"/>
            <a:ext cx="1035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2300">
                <a:solidFill>
                  <a:srgbClr val="1F2937"/>
                </a:solidFill>
              </a:rPr>
              <a:t>- Application : http://IP_MACHINE:8080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Grafana : http://IP_MACHINE:3001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Prometheus : http://IP_MACHINE:9090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Ouverture des ports dans le pare-feu Windows si besoin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Port-forward Kubernetes possible avec --address 0.0.0.0</a:t>
            </a:r>
            <a:endParaRPr lang="fr-FR" sz="2300"/>
          </a:p>
        </p:txBody>
      </p:sp>
      <p:sp>
        <p:nvSpPr>
          <p:cNvPr id="15" name="Footer"/>
          <p:cNvSpPr txBox="1"/>
          <p:nvPr/>
        </p:nvSpPr>
        <p:spPr>
          <a:xfrm>
            <a:off x="780000" y="6500000"/>
            <a:ext cx="82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250">
                <a:solidFill>
                  <a:srgbClr val="64748B"/>
                </a:solidFill>
              </a:rPr>
              <a:t>Une autre machine doit utiliser l IP du PC, pas localhost</a:t>
            </a:r>
            <a:endParaRPr lang="fr-FR" sz="12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ccent bar"/>
          <p:cNvSpPr/>
          <p:nvPr/>
        </p:nvSpPr>
        <p:spPr>
          <a:xfrm>
            <a:off x="0" y="0"/>
            <a:ext cx="12192000" cy="160000"/>
          </a:xfrm>
          <a:prstGeom prst="roundRect">
            <a:avLst/>
          </a:prstGeom>
          <a:solidFill>
            <a:srgbClr val="DC2626"/>
          </a:solidFill>
          <a:ln w="14000">
            <a:solidFill>
              <a:srgbClr val="DC2626"/>
            </a:solidFill>
          </a:ln>
        </p:spPr>
        <p:txBody>
          <a:bodyPr anchor="ctr" wrap="square" lIns="130000" rIns="130000" tIns="50000" bIns="50000"/>
          <a:lstStyle/>
        </p:txBody>
      </p:sp>
      <p:sp>
        <p:nvSpPr>
          <p:cNvPr id="11" name="Title"/>
          <p:cNvSpPr txBox="1"/>
          <p:nvPr/>
        </p:nvSpPr>
        <p:spPr>
          <a:xfrm>
            <a:off x="600000" y="380000"/>
            <a:ext cx="108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3800" b="1">
                <a:solidFill>
                  <a:srgbClr val="0F172A"/>
                </a:solidFill>
              </a:rPr>
              <a:t>Tests de demonstration</a:t>
            </a:r>
            <a:endParaRPr lang="fr-FR" sz="3800"/>
          </a:p>
        </p:txBody>
      </p:sp>
      <p:sp>
        <p:nvSpPr>
          <p:cNvPr id="12" name="Subtitle"/>
          <p:cNvSpPr txBox="1"/>
          <p:nvPr/>
        </p:nvSpPr>
        <p:spPr>
          <a:xfrm>
            <a:off x="620000" y="1010000"/>
            <a:ext cx="103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900">
                <a:solidFill>
                  <a:srgbClr val="475569"/>
                </a:solidFill>
              </a:rPr>
              <a:t>Commandes simples a montrer</a:t>
            </a:r>
            <a:endParaRPr lang="fr-FR" sz="1900"/>
          </a:p>
        </p:txBody>
      </p:sp>
      <p:sp>
        <p:nvSpPr>
          <p:cNvPr id="13" name="Bullets"/>
          <p:cNvSpPr txBox="1"/>
          <p:nvPr/>
        </p:nvSpPr>
        <p:spPr>
          <a:xfrm>
            <a:off x="780000" y="1720000"/>
            <a:ext cx="1035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2300">
                <a:solidFill>
                  <a:srgbClr val="1F2937"/>
                </a:solidFill>
              </a:rPr>
              <a:t>- docker compose ps pour voir les conteneurs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kubectl get pods -n greenops pour voir les pods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/api/health pour verifier le gateway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/api/energy/summary pour verifier le service metier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Suppression d un pod pour montrer la resilience Kubernetes</a:t>
            </a:r>
            <a:endParaRPr lang="fr-FR" sz="2300"/>
          </a:p>
        </p:txBody>
      </p:sp>
      <p:sp>
        <p:nvSpPr>
          <p:cNvPr id="15" name="Footer"/>
          <p:cNvSpPr txBox="1"/>
          <p:nvPr/>
        </p:nvSpPr>
        <p:spPr>
          <a:xfrm>
            <a:off x="780000" y="6500000"/>
            <a:ext cx="82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250">
                <a:solidFill>
                  <a:srgbClr val="64748B"/>
                </a:solidFill>
              </a:rPr>
              <a:t>Les tests prouvent que la plateforme fonctionne</a:t>
            </a:r>
            <a:endParaRPr lang="fr-FR" sz="12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ccent bar"/>
          <p:cNvSpPr/>
          <p:nvPr/>
        </p:nvSpPr>
        <p:spPr>
          <a:xfrm>
            <a:off x="0" y="0"/>
            <a:ext cx="12192000" cy="160000"/>
          </a:xfrm>
          <a:prstGeom prst="roundRect">
            <a:avLst/>
          </a:prstGeom>
          <a:solidFill>
            <a:srgbClr val="16A34A"/>
          </a:solidFill>
          <a:ln w="14000">
            <a:solidFill>
              <a:srgbClr val="16A34A"/>
            </a:solidFill>
          </a:ln>
        </p:spPr>
        <p:txBody>
          <a:bodyPr anchor="ctr" wrap="square" lIns="130000" rIns="130000" tIns="50000" bIns="50000"/>
          <a:lstStyle/>
        </p:txBody>
      </p:sp>
      <p:sp>
        <p:nvSpPr>
          <p:cNvPr id="11" name="Title"/>
          <p:cNvSpPr txBox="1"/>
          <p:nvPr/>
        </p:nvSpPr>
        <p:spPr>
          <a:xfrm>
            <a:off x="600000" y="380000"/>
            <a:ext cx="10800000" cy="6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3800" b="1">
                <a:solidFill>
                  <a:srgbClr val="0F172A"/>
                </a:solidFill>
              </a:rPr>
              <a:t>Conclusion</a:t>
            </a:r>
            <a:endParaRPr lang="fr-FR" sz="3800"/>
          </a:p>
        </p:txBody>
      </p:sp>
      <p:sp>
        <p:nvSpPr>
          <p:cNvPr id="12" name="Subtitle"/>
          <p:cNvSpPr txBox="1"/>
          <p:nvPr/>
        </p:nvSpPr>
        <p:spPr>
          <a:xfrm>
            <a:off x="620000" y="1010000"/>
            <a:ext cx="103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900">
                <a:solidFill>
                  <a:srgbClr val="475569"/>
                </a:solidFill>
              </a:rPr>
              <a:t>Resultat obtenu</a:t>
            </a:r>
            <a:endParaRPr lang="fr-FR" sz="1900"/>
          </a:p>
        </p:txBody>
      </p:sp>
      <p:sp>
        <p:nvSpPr>
          <p:cNvPr id="13" name="Bullets"/>
          <p:cNvSpPr txBox="1"/>
          <p:nvPr/>
        </p:nvSpPr>
        <p:spPr>
          <a:xfrm>
            <a:off x="780000" y="1720000"/>
            <a:ext cx="10350000" cy="3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2300">
                <a:solidFill>
                  <a:srgbClr val="1F2937"/>
                </a:solidFill>
              </a:rPr>
              <a:t>- Projet Docker et Kubernetes complet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Architecture microservices claire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Application accessible et supervisable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Documentation detaillee et depot GitHub</a:t>
            </a:r>
            <a:endParaRPr lang="fr-FR" sz="2300"/>
          </a:p>
          <a:p>
            <a:r>
              <a:rPr lang="fr-FR" sz="2300">
                <a:solidFill>
                  <a:srgbClr val="1F2937"/>
                </a:solidFill>
              </a:rPr>
              <a:t>- Base solide pour une demonstration ou une soutenance</a:t>
            </a:r>
            <a:endParaRPr lang="fr-FR" sz="2300"/>
          </a:p>
        </p:txBody>
      </p:sp>
      <p:sp>
        <p:nvSpPr>
          <p:cNvPr id="15" name="Footer"/>
          <p:cNvSpPr txBox="1"/>
          <p:nvPr/>
        </p:nvSpPr>
        <p:spPr>
          <a:xfrm>
            <a:off x="780000" y="6500000"/>
            <a:ext cx="82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fr-FR" sz="1250">
                <a:solidFill>
                  <a:srgbClr val="64748B"/>
                </a:solidFill>
              </a:rPr>
              <a:t>MERCI POUR VOTRE ATTENTION</a:t>
            </a:r>
            <a:endParaRPr lang="fr-FR" sz="12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eenOps">
  <a:themeElements>
    <a:clrScheme name="GreenOps">
      <a:dk1>
        <a:srgbClr val="111827"/>
      </a:dk1>
      <a:lt1>
        <a:srgbClr val="F8FAFC"/>
      </a:lt1>
      <a:dk2>
        <a:srgbClr val="334155"/>
      </a:dk2>
      <a:lt2>
        <a:srgbClr val="E2E8F0"/>
      </a:lt2>
      <a:accent1>
        <a:srgbClr val="16A34A"/>
      </a:accent1>
      <a:accent2>
        <a:srgbClr val="2563EB"/>
      </a:accent2>
      <a:accent3>
        <a:srgbClr val="F59E0B"/>
      </a:accent3>
      <a:accent4>
        <a:srgbClr val="DC2626"/>
      </a:accent4>
      <a:accent5>
        <a:srgbClr val="7C3AED"/>
      </a:accent5>
      <a:accent6>
        <a:srgbClr val="0F766E"/>
      </a:accent6>
      <a:hlink>
        <a:srgbClr val="2563EB"/>
      </a:hlink>
      <a:folHlink>
        <a:srgbClr val="7C3AED"/>
      </a:folHlink>
    </a:clrScheme>
    <a:fontScheme name="GreenOps">
      <a:majorFont>
        <a:latin typeface="Aptos Display"/>
      </a:majorFont>
      <a:minorFont>
        <a:latin typeface="Aptos"/>
      </a:minorFont>
    </a:fontScheme>
    <a:fmtScheme name="GreenOps">
      <a:fillStyleLst>
        <a:solidFill>
          <a:schemeClr val="accent1"/>
        </a:solidFill>
      </a:fillStyleLst>
      <a:lnStyleLst>
        <a:ln w="9525">
          <a:solidFill>
            <a:schemeClr val="accent1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10</Slides>
  <Notes>0</Notes>
  <HiddenSlides>0</HiddenSlides>
  <MMClips>0</MMClips>
  <ScaleCrop>false</ScaleCrop>
  <HeadingPairs>
    <vt:vector size="2" baseType="variant">
      <vt:variant>
        <vt:lpstr>Slides</vt:lpstr>
      </vt:variant>
      <vt:variant>
        <vt:i4>10</vt:i4>
      </vt:variant>
    </vt:vector>
  </HeadingPairs>
  <TitlesOfParts>
    <vt:vector size="10" baseType="lpstr">
      <vt:lpstr>GreenOps Platform</vt:lpstr>
      <vt:lpstr>Objectif du projet</vt:lpstr>
      <vt:lpstr>Architecture generale</vt:lpstr>
      <vt:lpstr>Stack technique</vt:lpstr>
      <vt:lpstr>Phase Docker Compose</vt:lpstr>
      <vt:lpstr>Phase Kubernetes</vt:lpstr>
      <vt:lpstr>Observabilite</vt:lpstr>
      <vt:lpstr>Acces reseau</vt:lpstr>
      <vt:lpstr>Tests de demonstration</vt:lpstr>
      <vt:lpstr>Conclusion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GreenOps Platform - Presentation</dc:title>
  <dc:creator>Codex</dc:creator>
  <cp:lastModifiedBy>Codex</cp:lastModifiedBy>
  <dcterms:created xsi:type="dcterms:W3CDTF">2026-06-05T00:00:00Z</dcterms:created>
  <dcterms:modified xsi:type="dcterms:W3CDTF">2026-06-05T00:00:00Z</dcterms:modified>
</cp:coreProperties>
</file>